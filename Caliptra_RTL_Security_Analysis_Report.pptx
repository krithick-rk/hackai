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1277295" cy="5943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HACK@DAC 2026 — PHASE 2 CALIPTRA RTL AUDIT</a:t>
            </a:r>
          </a:p>
          <a:p>
            <a:pPr>
              <a:spcAft>
                <a:spcPts val="1400"/>
              </a:spcAft>
              <a:defRPr sz="3400" b="1">
                <a:solidFill>
                  <a:srgbClr val="F8FAFC"/>
                </a:solidFill>
              </a:defRPr>
            </a:pPr>
            <a:r>
              <a:t>RTL Security Analysis &amp; Verification Strategy</a:t>
            </a:r>
          </a:p>
          <a:p>
            <a:pPr>
              <a:spcAft>
                <a:spcPts val="2200"/>
              </a:spcAft>
              <a:defRPr sz="1700">
                <a:solidFill>
                  <a:srgbClr val="E2E8F0"/>
                </a:solidFill>
              </a:defRPr>
            </a:pPr>
            <a:r>
              <a:t>Comprehensive Audit of 29 IP Cores: Stage 0 Recon ➔ Phase 1: AI-Orchestrated Dynamic Simulation ➔ Phase 2: Python SAST &amp; AI Validation Pipeline</a:t>
            </a:r>
          </a:p>
          <a:p>
            <a:pPr>
              <a:spcAft>
                <a:spcPts val="400"/>
              </a:spcAft>
              <a:defRPr sz="2000" b="1">
                <a:solidFill>
                  <a:srgbClr val="FBBF24"/>
                </a:solidFill>
              </a:defRPr>
            </a:pPr>
            <a:r>
              <a:t>TEAM LOGICRON</a:t>
            </a:r>
          </a:p>
          <a:p>
            <a:pPr>
              <a:spcAft>
                <a:spcPts val="1200"/>
              </a:spcAft>
              <a:defRPr sz="1500" b="1">
                <a:solidFill>
                  <a:srgbClr val="F8FAFC"/>
                </a:solidFill>
              </a:defRPr>
            </a:pPr>
            <a:r>
              <a:t>Society for Electronic Transactions and Security (SETS), Chennai, India</a:t>
            </a:r>
          </a:p>
          <a:p>
            <a:pPr>
              <a:spcAft>
                <a:spcPts val="600"/>
              </a:spcAft>
              <a:defRPr sz="1600" b="1">
                <a:solidFill>
                  <a:srgbClr val="38BDF8"/>
                </a:solidFill>
              </a:defRPr>
            </a:pPr>
            <a:r>
              <a:t>Advisor:  A. Suganya</a:t>
            </a:r>
          </a:p>
          <a:p>
            <a:pPr>
              <a:spcAft>
                <a:spcPts val="2200"/>
              </a:spcAft>
              <a:defRPr sz="1500">
                <a:solidFill>
                  <a:srgbClr val="E2E8F0"/>
                </a:solidFill>
              </a:defRPr>
            </a:pPr>
            <a:r>
              <a:t>Participants:  Eswari Devi   •   Renita .J   •   Sathish Kumar   •   Kushana Shyam Sundar</a:t>
            </a:r>
          </a:p>
          <a:p>
            <a:pPr>
              <a:defRPr sz="1500" b="1">
                <a:solidFill>
                  <a:srgbClr val="4ADE80"/>
                </a:solidFill>
              </a:defRPr>
            </a:pPr>
            <a:r>
              <a:t>STATUS: Phase 1 Dynamic Simulation (34 Bugs) Complete  |  Phase 2 Static SAST Pipeline Operational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TEAM PHOTO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Team LOGICRON — Society for Electronic Transactions and Security (SETS)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72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1127729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SETS CHENNAI — TEAM LOGICRON  |  HACK@DAC 2026 CALIPTRA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Security Audit Workflow &amp; Phase Separation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72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356616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BF24"/>
                </a:solidFill>
              </a:defRPr>
            </a:pPr>
            <a:r>
              <a:t>STAGE 0: RECONNAISSANCE</a:t>
            </a:r>
          </a:p>
          <a:p>
            <a:pPr>
              <a:spcAft>
                <a:spcPts val="1800"/>
              </a:spcAft>
              <a:defRPr sz="1900" b="1">
                <a:solidFill>
                  <a:srgbClr val="F8FAFC"/>
                </a:solidFill>
              </a:defRPr>
            </a:pPr>
            <a:r>
              <a:t>IP Discovery &amp; Mapping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Scope &amp; IP Tree Mapping (29 IPs)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Register &amp; RDL Specification Audit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Boundary &amp; Interface Triage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Threat Modeling &amp; Security Goals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508760"/>
            <a:ext cx="356616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3736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PHASE 1: DYNAMIC ANALYSIS</a:t>
            </a:r>
          </a:p>
          <a:p>
            <a:pPr>
              <a:spcAft>
                <a:spcPts val="1800"/>
              </a:spcAft>
              <a:defRPr sz="1900" b="1">
                <a:solidFill>
                  <a:srgbClr val="F8FAFC"/>
                </a:solidFill>
              </a:defRPr>
            </a:pPr>
            <a:r>
              <a:t>AI-Orchestrated Simulation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Claude Code CLI Integration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Orchestrator AI Batch Scheduling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Worker AI Instances &amp; Custom Tools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Runnable PoC Exploits &amp; VCD Traces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08760"/>
            <a:ext cx="356616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73736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ADE80"/>
                </a:solidFill>
              </a:defRPr>
            </a:pPr>
            <a:r>
              <a:t>PHASE 2: STATIC SAST PIPELINE</a:t>
            </a:r>
          </a:p>
          <a:p>
            <a:pPr>
              <a:spcAft>
                <a:spcPts val="1800"/>
              </a:spcAft>
              <a:defRPr sz="1900" b="1">
                <a:solidFill>
                  <a:srgbClr val="F8FAFC"/>
                </a:solidFill>
              </a:defRPr>
            </a:pPr>
            <a:r>
              <a:t>Python Engine &amp; AI Validation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Modular Parallel Static Scanning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Rule-Based Vulnerability Detection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Claude AI Root-Cause &amp; FP Reduction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Exploit Generation &amp; Reproduction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SETS CHENNAI — TEAM LOGICRON  |  HACK@DAC 2026 CALIPTRA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Stage 0 — Target Subsystem Inventory &amp; Tier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72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1127729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91840"/>
                <a:gridCol w="4876495"/>
                <a:gridCol w="1463040"/>
              </a:tblGrid>
              <a:tr h="8229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8BDF8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8BDF8"/>
                          </a:solidFill>
                        </a:defRPr>
                      </a:pPr>
                      <a:r>
                        <a:t>Subsystem Category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8BDF8"/>
                          </a:solidFill>
                        </a:defRPr>
                      </a:pPr>
                      <a:r>
                        <a:t>Target IP Cores Included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8BDF8"/>
                          </a:solidFill>
                        </a:defRPr>
                      </a:pPr>
                      <a:r>
                        <a:t>Module Count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Tier 1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Crypto Cores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AES, SHA-256, SHA-512, SHA-512M, SHA-3, HMAC, HMAC-DRBG, KMAC, ECC, DOE, ML-DSA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11 IPs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Tier 2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Storage &amp; Access Control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Key Vault, PCR Vault, Data Vault, Lifecycle Controller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4 IPs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Tier 3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Entropy &amp; RNG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CSRNG, Entropy Source, EDN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3 IPs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Tier 4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Interfaces &amp; CPU Core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SoC Interface, SPI Host, UART, VeeR EL2 RISC-V Core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4 IPs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Tier 5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Bus Fabric &amp; Infrastructure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AXI, AHB-Lite Bus, Caliptra TL-UL, Caliptra Prim, Prim Generic, Shared Libs, Top Integration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7 IPs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SETS CHENNAI — TEAM LOGICRON  |  HACK@DAC 2026 CALIPTRA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Phase 1 — Dynamic Analysis: Claude Code &amp; AI Orchestration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72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553212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5074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1. Claude Code CLI Integration</a:t>
            </a:r>
          </a:p>
          <a:p>
            <a:pPr>
              <a:defRPr sz="1500">
                <a:solidFill>
                  <a:srgbClr val="E2E8F0"/>
                </a:solidFill>
              </a:defRPr>
            </a:pPr>
            <a:r>
              <a:t>Utilized Claude Code CLI integrated directly with SystemVerilog simulation tools (Verilator/Iverilog) to automate testbench generation and waveform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53212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074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BBF24"/>
                </a:solidFill>
              </a:defRPr>
            </a:pPr>
            <a:r>
              <a:t>2. Batch-Wise AI Orchestration</a:t>
            </a:r>
          </a:p>
          <a:p>
            <a:pPr>
              <a:defRPr sz="1500">
                <a:solidFill>
                  <a:srgbClr val="E2E8F0"/>
                </a:solidFill>
              </a:defRPr>
            </a:pPr>
            <a:r>
              <a:t>A central Orchestrator AI instance manages target IP analysis batch-wise, allocating isolated IP modules to specialized worker agents in parallel.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77639"/>
            <a:ext cx="553212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206240"/>
            <a:ext cx="5074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ADE80"/>
                </a:solidFill>
              </a:defRPr>
            </a:pPr>
            <a:r>
              <a:t>3. Tool-Assisted Bug Evaluation</a:t>
            </a:r>
          </a:p>
          <a:p>
            <a:pPr>
              <a:defRPr sz="1500">
                <a:solidFill>
                  <a:srgbClr val="E2E8F0"/>
                </a:solidFill>
              </a:defRPr>
            </a:pPr>
            <a:r>
              <a:t>Worker AI instances invoke dedicated verification tools to run simulation stimulus, parse trace logs, and evaluate bugs for their assigned IP core.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977639"/>
            <a:ext cx="553212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06240"/>
            <a:ext cx="5074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7171"/>
                </a:solidFill>
              </a:defRPr>
            </a:pPr>
            <a:r>
              <a:t>4. Verified Exploits &amp; Waveforms</a:t>
            </a:r>
          </a:p>
          <a:p>
            <a:pPr>
              <a:defRPr sz="1500">
                <a:solidFill>
                  <a:srgbClr val="E2E8F0"/>
                </a:solidFill>
              </a:defRPr>
            </a:pPr>
            <a:r>
              <a:t>Every accepted bug requires a runnable SystemVerilog PoC exploit and a VCD/FST waveform trace proving the vulnerability with 0 false positives.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SETS CHENNAI — TEAM LOGICRON  |  HACK@DAC 2026 CALIPTRA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Phase 1 — Dynamic Analysis Results &amp; Compute Ledger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72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269748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87171"/>
                </a:solidFill>
              </a:defRPr>
            </a:pPr>
            <a:r>
              <a:t>34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Confirmed Bugs</a:t>
            </a:r>
            <a:br/>
            <a:r>
              <a:t>(0 False Positives)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508760"/>
            <a:ext cx="269748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60020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4ADE80"/>
                </a:solidFill>
              </a:defRPr>
            </a:pPr>
            <a:r>
              <a:t>34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Runnable PoC Exploits</a:t>
            </a:r>
            <a:br/>
            <a:r>
              <a:t>+ VCD Waveforms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08760"/>
            <a:ext cx="269748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60020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BBF24"/>
                </a:solidFill>
              </a:defRPr>
            </a:pPr>
            <a:r>
              <a:t>7.88M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Total Compute Tokens</a:t>
            </a:r>
            <a:br/>
            <a:r>
              <a:t>(30 Worker Spawns)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508760"/>
            <a:ext cx="269748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60020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38BDF8"/>
                </a:solidFill>
              </a:defRPr>
            </a:pPr>
            <a:r>
              <a:t>29 / 29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IP Cores Tested</a:t>
            </a:r>
            <a:br/>
            <a:r>
              <a:t>(100% Coverage)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324612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286000"/>
                <a:gridCol w="3230575"/>
                <a:gridCol w="2743200"/>
              </a:tblGrid>
              <a:tr h="533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</a:defRPr>
                      </a:pPr>
                      <a:r>
                        <a:t>Top IP Core Name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</a:defRPr>
                      </a:pPr>
                      <a:r>
                        <a:t>Tokens Consumed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</a:defRPr>
                      </a:pPr>
                      <a:r>
                        <a:t>Execution / Spawns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</a:defRPr>
                      </a:pPr>
                      <a:r>
                        <a:t>Dynamic Findings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SHA-3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8BDF8"/>
                          </a:solidFill>
                        </a:defRPr>
                      </a:pPr>
                      <a:r>
                        <a:t>676,655 tokens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2 Spawns (~5.0h)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1 Bug (AHB Bus DoS)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Top Integration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8BDF8"/>
                          </a:solidFill>
                        </a:defRPr>
                      </a:pPr>
                      <a:r>
                        <a:t>635,160 tokens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1 Spawn (~8.3h)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1 Bug (OTP Fuse Gate Bypass)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ML-DSA / Adams Bridge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8BDF8"/>
                          </a:solidFill>
                        </a:defRPr>
                      </a:pPr>
                      <a:r>
                        <a:t>423,462 tokens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1 Spawn (~1.4h)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1 Bug (Address Decode Collision)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DOE (Deobfuscation Engine)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8BDF8"/>
                          </a:solidFill>
                        </a:defRPr>
                      </a:pPr>
                      <a:r>
                        <a:t>381,629 tokens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1 Spawn (~0.8h)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1 Bug (Command Replay)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AES Core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8BDF8"/>
                          </a:solidFill>
                        </a:defRPr>
                      </a:pPr>
                      <a:r>
                        <a:t>355,032 tokens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1 Spawn (~6.1h)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1 Bug (Reseed Latch)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SETS CHENNAI — TEAM LOGICRON  |  HACK@DAC 2026 CALIPTRA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Dynamic Deep Dive 1 — Key Vault Key Wiping [KV-002]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72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356616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38BDF8"/>
                </a:solidFill>
              </a:defRPr>
            </a:pPr>
            <a:r>
              <a:t>BUG SPECIFICATION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Bug ID:</a:t>
            </a:r>
          </a:p>
          <a:p>
            <a:pPr>
              <a:spcAft>
                <a:spcPts val="600"/>
              </a:spcAft>
              <a:defRPr sz="1500" b="1">
                <a:solidFill>
                  <a:srgbClr val="E2E8F0"/>
                </a:solidFill>
              </a:defRPr>
            </a:pPr>
            <a:r>
              <a:t>KV-002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Target File:</a:t>
            </a:r>
          </a:p>
          <a:p>
            <a:pPr>
              <a:spcAft>
                <a:spcPts val="600"/>
              </a:spcAft>
              <a:defRPr sz="1500" b="1">
                <a:solidFill>
                  <a:srgbClr val="E2E8F0"/>
                </a:solidFill>
              </a:defRPr>
            </a:pPr>
            <a:r>
              <a:t>src/keyvault/rtl/kv_top.sv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CVSSv3.1 Score:</a:t>
            </a:r>
          </a:p>
          <a:p>
            <a:pPr>
              <a:spcAft>
                <a:spcPts val="600"/>
              </a:spcAft>
              <a:defRPr sz="1500" b="1">
                <a:solidFill>
                  <a:srgbClr val="F87171"/>
                </a:solidFill>
              </a:defRPr>
            </a:pPr>
            <a:r>
              <a:t>8.4 (High Severity)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Impacted IP:</a:t>
            </a:r>
          </a:p>
          <a:p>
            <a:pPr>
              <a:spcAft>
                <a:spcPts val="600"/>
              </a:spcAft>
              <a:defRPr sz="1500" b="1">
                <a:solidFill>
                  <a:srgbClr val="E2E8F0"/>
                </a:solidFill>
              </a:defRPr>
            </a:pPr>
            <a:r>
              <a:t>Key Vault (KV)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Exploit Path:</a:t>
            </a:r>
          </a:p>
          <a:p>
            <a:pPr>
              <a:spcAft>
                <a:spcPts val="600"/>
              </a:spcAft>
              <a:defRPr sz="1500" b="1">
                <a:solidFill>
                  <a:srgbClr val="E2E8F0"/>
                </a:solidFill>
              </a:defRPr>
            </a:pPr>
            <a:r>
              <a:t>work/exploits/KV-002_exploit.sv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Waveform Trace:</a:t>
            </a:r>
          </a:p>
          <a:p>
            <a:pPr>
              <a:spcAft>
                <a:spcPts val="600"/>
              </a:spcAft>
              <a:defRPr sz="1500" b="1">
                <a:solidFill>
                  <a:srgbClr val="E2E8F0"/>
                </a:solidFill>
              </a:defRPr>
            </a:pPr>
            <a:r>
              <a:t>work/waves/KV-002.vcd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508760"/>
            <a:ext cx="752825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91640"/>
            <a:ext cx="70710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38BDF8"/>
                </a:solidFill>
              </a:defRPr>
            </a:pPr>
            <a:r>
              <a:t>Vulnerability Mechanism:</a:t>
            </a:r>
          </a:p>
          <a:p>
            <a:pPr>
              <a:spcAft>
                <a:spcPts val="1600"/>
              </a:spcAft>
              <a:defRPr sz="1500">
                <a:solidFill>
                  <a:srgbClr val="E2E8F0"/>
                </a:solidFill>
              </a:defRPr>
            </a:pPr>
            <a:r>
              <a:t>When any two write clients attempt simultaneous transfer (`kv_multi_write_err`), the error handling logic unconditionally zeroizes ALL 24 key slots in the Key Vault — including write-locked and use-locked key entries that had zero involvement in the collision.</a:t>
            </a:r>
          </a:p>
          <a:p>
            <a:pPr>
              <a:defRPr sz="1600" b="1">
                <a:solidFill>
                  <a:srgbClr val="38BDF8"/>
                </a:solidFill>
              </a:defRPr>
            </a:pPr>
            <a:r>
              <a:t>Security Consequence:</a:t>
            </a:r>
          </a:p>
          <a:p>
            <a:pPr>
              <a:spcAft>
                <a:spcPts val="1600"/>
              </a:spcAft>
              <a:defRPr sz="1500">
                <a:solidFill>
                  <a:srgbClr val="E2E8F0"/>
                </a:solidFill>
              </a:defRPr>
            </a:pPr>
            <a:r>
              <a:t>Complete Key Vault Denial of Service (DoS). An unprivileged write client can intentionally trigger a single collision with a low-privilege slot to instantly wipe critical root keys, HMAC keys, and unlocked secret material across the entire RoT.</a:t>
            </a:r>
          </a:p>
          <a:p>
            <a:pPr>
              <a:defRPr sz="1600" b="1">
                <a:solidFill>
                  <a:srgbClr val="38BDF8"/>
                </a:solidFill>
              </a:defRPr>
            </a:pPr>
            <a:r>
              <a:t>Evidence &amp; Verification:</a:t>
            </a:r>
          </a:p>
          <a:p>
            <a:pPr>
              <a:spcAft>
                <a:spcPts val="1600"/>
              </a:spcAft>
              <a:defRPr sz="1500">
                <a:solidFill>
                  <a:srgbClr val="E2E8F0"/>
                </a:solidFill>
              </a:defRPr>
            </a:pPr>
            <a:r>
              <a:t>Proven via Verilator PoC exploit testbench (`KV-002_exploit.sv`). VCD trace shows simultaneous writes to Slot 1 &amp; 2 causing `slot_zeroize_bus` to assert across all 24 slots, clearing locked Slot 0 instantly.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SETS CHENNAI — TEAM LOGICRON  |  HACK@DAC 2026 CALIPTRA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Dynamic Deep Dive 2 — ECC Verification Register Leak [ECC-001]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72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356616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38BDF8"/>
                </a:solidFill>
              </a:defRPr>
            </a:pPr>
            <a:r>
              <a:t>BUG SPECIFICATION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Bug ID:</a:t>
            </a:r>
          </a:p>
          <a:p>
            <a:pPr>
              <a:spcAft>
                <a:spcPts val="600"/>
              </a:spcAft>
              <a:defRPr sz="1500" b="1">
                <a:solidFill>
                  <a:srgbClr val="E2E8F0"/>
                </a:solidFill>
              </a:defRPr>
            </a:pPr>
            <a:r>
              <a:t>ECC-001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Target File:</a:t>
            </a:r>
          </a:p>
          <a:p>
            <a:pPr>
              <a:spcAft>
                <a:spcPts val="600"/>
              </a:spcAft>
              <a:defRPr sz="1500" b="1">
                <a:solidFill>
                  <a:srgbClr val="E2E8F0"/>
                </a:solidFill>
              </a:defRPr>
            </a:pPr>
            <a:r>
              <a:t>src/ecc/rtl/ecc_top.sv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CVSSv3.1 Score:</a:t>
            </a:r>
          </a:p>
          <a:p>
            <a:pPr>
              <a:spcAft>
                <a:spcPts val="600"/>
              </a:spcAft>
              <a:defRPr sz="1500" b="1">
                <a:solidFill>
                  <a:srgbClr val="F87171"/>
                </a:solidFill>
              </a:defRPr>
            </a:pPr>
            <a:r>
              <a:t>8.1 (High Severity)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Impacted IP:</a:t>
            </a:r>
          </a:p>
          <a:p>
            <a:pPr>
              <a:spcAft>
                <a:spcPts val="600"/>
              </a:spcAft>
              <a:defRPr sz="1500" b="1">
                <a:solidFill>
                  <a:srgbClr val="E2E8F0"/>
                </a:solidFill>
              </a:defRPr>
            </a:pPr>
            <a:r>
              <a:t>Elliptic Curve Cryptography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Exploit Path:</a:t>
            </a:r>
          </a:p>
          <a:p>
            <a:pPr>
              <a:spcAft>
                <a:spcPts val="600"/>
              </a:spcAft>
              <a:defRPr sz="1500" b="1">
                <a:solidFill>
                  <a:srgbClr val="E2E8F0"/>
                </a:solidFill>
              </a:defRPr>
            </a:pPr>
            <a:r>
              <a:t>work/exploits/ECC-001_exploit.sv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Waveform Trace:</a:t>
            </a:r>
          </a:p>
          <a:p>
            <a:pPr>
              <a:spcAft>
                <a:spcPts val="600"/>
              </a:spcAft>
              <a:defRPr sz="1500" b="1">
                <a:solidFill>
                  <a:srgbClr val="E2E8F0"/>
                </a:solidFill>
              </a:defRPr>
            </a:pPr>
            <a:r>
              <a:t>work/waves/ECC-001.vcd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508760"/>
            <a:ext cx="752825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91640"/>
            <a:ext cx="70710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38BDF8"/>
                </a:solidFill>
              </a:defRPr>
            </a:pPr>
            <a:r>
              <a:t>Vulnerability Mechanism:</a:t>
            </a:r>
          </a:p>
          <a:p>
            <a:pPr>
              <a:spcAft>
                <a:spcPts val="1600"/>
              </a:spcAft>
              <a:defRPr sz="1500">
                <a:solidFill>
                  <a:srgbClr val="E2E8F0"/>
                </a:solidFill>
              </a:defRPr>
            </a:pPr>
            <a:r>
              <a:t>The `ECC_VERIFY_R` output register is only cleared upon explicit `ZEROIZE` or debug entry, but is NEVER cleared when an invalid input is passed to the ECDSA signature verification engine hardware error path.</a:t>
            </a:r>
          </a:p>
          <a:p>
            <a:pPr>
              <a:defRPr sz="1600" b="1">
                <a:solidFill>
                  <a:srgbClr val="38BDF8"/>
                </a:solidFill>
              </a:defRPr>
            </a:pPr>
            <a:r>
              <a:t>Security Consequence:</a:t>
            </a:r>
          </a:p>
          <a:p>
            <a:pPr>
              <a:spcAft>
                <a:spcPts val="1600"/>
              </a:spcAft>
              <a:defRPr sz="1500">
                <a:solidFill>
                  <a:srgbClr val="E2E8F0"/>
                </a:solidFill>
              </a:defRPr>
            </a:pPr>
            <a:r>
              <a:t>Signature Verification Spoofing. If a prior valid signature verification succeeded (setting `ECC_VERIFY_R = VALID`), a subsequent invalid/forged signature submission that triggers an input error fails to reset `ECC_VERIFY_R`, leaving stale VALID status active for firmware.</a:t>
            </a:r>
          </a:p>
          <a:p>
            <a:pPr>
              <a:defRPr sz="1600" b="1">
                <a:solidFill>
                  <a:srgbClr val="38BDF8"/>
                </a:solidFill>
              </a:defRPr>
            </a:pPr>
            <a:r>
              <a:t>Evidence &amp; Verification:</a:t>
            </a:r>
          </a:p>
          <a:p>
            <a:pPr>
              <a:spcAft>
                <a:spcPts val="1600"/>
              </a:spcAft>
              <a:defRPr sz="1500">
                <a:solidFill>
                  <a:srgbClr val="E2E8F0"/>
                </a:solidFill>
              </a:defRPr>
            </a:pPr>
            <a:r>
              <a:t>Confirmed with PoC exploit simulation (`ECC-001_exploit.sv`). Passing a malformed R/S pair causes hardware error flags to set, but `ECC_VERIFY_R` retains `0x1` (VALID) continuously.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SETS CHENNAI — TEAM LOGICRON  |  HACK@DAC 2026 CALIPTRA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Dynamic Deep Dive 3 — Top Integration OTP Fuse Gate [INTEG-001]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72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356616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38BDF8"/>
                </a:solidFill>
              </a:defRPr>
            </a:pPr>
            <a:r>
              <a:t>BUG SPECIFICATION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Bug ID:</a:t>
            </a:r>
          </a:p>
          <a:p>
            <a:pPr>
              <a:spcAft>
                <a:spcPts val="600"/>
              </a:spcAft>
              <a:defRPr sz="1500" b="1">
                <a:solidFill>
                  <a:srgbClr val="E2E8F0"/>
                </a:solidFill>
              </a:defRPr>
            </a:pPr>
            <a:r>
              <a:t>INTEG-001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Target File:</a:t>
            </a:r>
          </a:p>
          <a:p>
            <a:pPr>
              <a:spcAft>
                <a:spcPts val="600"/>
              </a:spcAft>
              <a:defRPr sz="1500" b="1">
                <a:solidFill>
                  <a:srgbClr val="E2E8F0"/>
                </a:solidFill>
              </a:defRPr>
            </a:pPr>
            <a:r>
              <a:t>src/integration/rtl/caliptra_top.sv:1341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CVSSv3.1 Score:</a:t>
            </a:r>
          </a:p>
          <a:p>
            <a:pPr>
              <a:spcAft>
                <a:spcPts val="600"/>
              </a:spcAft>
              <a:defRPr sz="1500" b="1">
                <a:solidFill>
                  <a:srgbClr val="F87171"/>
                </a:solidFill>
              </a:defRPr>
            </a:pPr>
            <a:r>
              <a:t>7.9 (High Severity)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Impacted IP:</a:t>
            </a:r>
          </a:p>
          <a:p>
            <a:pPr>
              <a:spcAft>
                <a:spcPts val="600"/>
              </a:spcAft>
              <a:defRPr sz="1500" b="1">
                <a:solidFill>
                  <a:srgbClr val="E2E8F0"/>
                </a:solidFill>
              </a:defRPr>
            </a:pPr>
            <a:r>
              <a:t>Top Integration (INTEG)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Exploit Path:</a:t>
            </a:r>
          </a:p>
          <a:p>
            <a:pPr>
              <a:spcAft>
                <a:spcPts val="600"/>
              </a:spcAft>
              <a:defRPr sz="1500" b="1">
                <a:solidFill>
                  <a:srgbClr val="E2E8F0"/>
                </a:solidFill>
              </a:defRPr>
            </a:pPr>
            <a:r>
              <a:t>work/exploits/INTEG-001_exploit.sv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Waveform Trace:</a:t>
            </a:r>
          </a:p>
          <a:p>
            <a:pPr>
              <a:spcAft>
                <a:spcPts val="600"/>
              </a:spcAft>
              <a:defRPr sz="1500" b="1">
                <a:solidFill>
                  <a:srgbClr val="E2E8F0"/>
                </a:solidFill>
              </a:defRPr>
            </a:pPr>
            <a:r>
              <a:t>work/waves/INTEG-001.vcd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508760"/>
            <a:ext cx="752825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91640"/>
            <a:ext cx="70710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38BDF8"/>
                </a:solidFill>
              </a:defRPr>
            </a:pPr>
            <a:r>
              <a:t>Vulnerability Mechanism:</a:t>
            </a:r>
          </a:p>
          <a:p>
            <a:pPr>
              <a:spcAft>
                <a:spcPts val="1600"/>
              </a:spcAft>
              <a:defRPr sz="1500">
                <a:solidFill>
                  <a:srgbClr val="E2E8F0"/>
                </a:solidFill>
              </a:defRPr>
            </a:pPr>
            <a:r>
              <a:t>`caliptra_top.sv` hardcodes `entropy_src`'s OTP fuse permission (`otp_en_entropy_src_fw_over_i`) to constant `MuBi8True`. This collapses the intended two-factor safety gate (OTP Fuse AND SW register) into SW-only control.</a:t>
            </a:r>
          </a:p>
          <a:p>
            <a:pPr>
              <a:defRPr sz="1600" b="1">
                <a:solidFill>
                  <a:srgbClr val="38BDF8"/>
                </a:solidFill>
              </a:defRPr>
            </a:pPr>
            <a:r>
              <a:t>Security Consequence:</a:t>
            </a:r>
          </a:p>
          <a:p>
            <a:pPr>
              <a:spcAft>
                <a:spcPts val="1600"/>
              </a:spcAft>
              <a:defRPr sz="1500">
                <a:solidFill>
                  <a:srgbClr val="E2E8F0"/>
                </a:solidFill>
              </a:defRPr>
            </a:pPr>
            <a:r>
              <a:t>TRNG Entropy Injection Attack. Malicious firmware alone can force the TRNG entropy source into firmware-override mode in ANY lifecycle state (including Production). Firmware can inject arbitrary 384-bit attacker-chosen entropy feeding CSRNG seeds!</a:t>
            </a:r>
          </a:p>
          <a:p>
            <a:pPr>
              <a:defRPr sz="1600" b="1">
                <a:solidFill>
                  <a:srgbClr val="38BDF8"/>
                </a:solidFill>
              </a:defRPr>
            </a:pPr>
            <a:r>
              <a:t>Evidence &amp; Verification:</a:t>
            </a:r>
          </a:p>
          <a:p>
            <a:pPr>
              <a:spcAft>
                <a:spcPts val="1600"/>
              </a:spcAft>
              <a:defRPr sz="1500">
                <a:solidFill>
                  <a:srgbClr val="E2E8F0"/>
                </a:solidFill>
              </a:defRPr>
            </a:pPr>
            <a:r>
              <a:t>Differential PoC exploit verified against unmodified `caliptra_top.sv` vs properly-fused logic. The as-built core matches attacker-chosen entropy byte-for-byte in CSRNG.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PHASE 2: STATIC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Hardware RTL SAST Validation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72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2697480" cy="374903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39"/>
            <a:ext cx="2423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BBF24"/>
                </a:solidFill>
              </a:defRPr>
            </a:pPr>
            <a:r>
              <a:t>1. Python Analysis Framework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Pass project directory to SAST framework to automatically traverse SystemVerilog source files.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3063239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508760"/>
            <a:ext cx="2697480" cy="374903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691639"/>
            <a:ext cx="2423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BBF24"/>
                </a:solidFill>
              </a:defRPr>
            </a:pPr>
            <a:r>
              <a:t>2. Parallel Static Analysis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Divide analysis into 10 independent scanning modules executing concurrently for high performance.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3063239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2697480" cy="374903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91639"/>
            <a:ext cx="2423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BBF24"/>
                </a:solidFill>
              </a:defRPr>
            </a:pPr>
            <a:r>
              <a:t>3. Centralized Finding Collection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Collect findings across modules, merge into central database, and normalize info.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3063239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508760"/>
            <a:ext cx="2697480" cy="374903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691639"/>
            <a:ext cx="2423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BBF24"/>
                </a:solidFill>
              </a:defRPr>
            </a:pPr>
            <a:r>
              <a:t>4. Internal SAST Rule Scan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Execute Python SAST engine using validated security rules to correlate detection.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94960"/>
            <a:ext cx="11277295" cy="105156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440680"/>
            <a:ext cx="109115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BBF24"/>
                </a:solidFill>
              </a:defRPr>
            </a:pPr>
            <a:r>
              <a:t>PARALLEL SCANNING MODULE CATEGORIES &amp; COVERAGE EFFICIENCY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Modules: Access Control | Secure Boot | OTP/Fuse Security | Debug Interface | Lifecycle State | Register Protection | Memory Protection | Information Disclosure | Cryptographic Misuse | Privilege Escalation</a:t>
            </a:r>
          </a:p>
          <a:p>
            <a:pPr>
              <a:defRPr sz="1200" b="1">
                <a:solidFill>
                  <a:srgbClr val="4ADE80"/>
                </a:solidFill>
              </a:defRPr>
            </a:pPr>
            <a:r>
              <a:t>"Multiple independent analysis modules improve coverage while reducing overall analysis time."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PHASE 2: AI VALIDATION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AI-Assisted Validation &amp; Reporting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72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269748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39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1. Claude AI (CLI) Analysis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Root cause analysis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RTL code inspection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Security impact evaluation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Vulnerability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508760"/>
            <a:ext cx="269748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691639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BBF24"/>
                </a:solidFill>
              </a:defRPr>
            </a:pPr>
            <a:r>
              <a:t>2. Duplicate &amp; FP Filter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Filters findings matching: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Same RTL logic &amp; root cause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Same attack path &amp; module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Invalid reachability/intent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08760"/>
            <a:ext cx="269748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91639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C084FC"/>
                </a:solidFill>
              </a:defRPr>
            </a:pPr>
            <a:r>
              <a:t>3. Exploit Generation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AI creates reproduction evidence: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Standalone PoC exploits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Simulation-based validation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Reproduction verification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508760"/>
            <a:ext cx="269748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691639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ADE80"/>
                </a:solidFill>
              </a:defRPr>
            </a:pPr>
            <a:r>
              <a:t>4. Final Security Report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Consolidated Final Deliverables: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Verified unique findings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Technical report &amp; summary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Confirmed exploit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754880"/>
            <a:ext cx="11277295" cy="1691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1091153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BBF24"/>
                </a:solidFill>
              </a:defRPr>
            </a:pPr>
            <a:r>
              <a:t>FINAL VERIFICATION &amp; CLASSIFICATION GUARANTEE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Verified Findings: Successfully validated, reproducible, security impact confirmed with generated PoC exploits.</a:t>
            </a:r>
            <a:br/>
            <a:r>
              <a:t>• Not Verified Filtered: Not Reproducible (cannot be reliably triggered) and False Positives (design is secure) are removed.</a:t>
            </a:r>
          </a:p>
          <a:p>
            <a:pPr>
              <a:defRPr sz="1300" b="1">
                <a:solidFill>
                  <a:srgbClr val="4ADE80"/>
                </a:solidFill>
              </a:defRPr>
            </a:pPr>
            <a:r>
              <a:t>"Only unique, reproducible, and security-relevant vulnerabilities are included in the final report, ensuring high-confidence SAST validation with minimal false positives."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REMEDIATION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Synthesis &amp; Remediation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72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1127729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ADE80"/>
                </a:solidFill>
              </a:defRPr>
            </a:pPr>
            <a:r>
              <a:t>SYNTHESIS OF DYNAMIC &amp; STATIC SECURITY FINDINGS</a:t>
            </a:r>
          </a:p>
          <a:p>
            <a:pPr>
              <a:defRPr sz="1600" b="1">
                <a:solidFill>
                  <a:srgbClr val="38BDF8"/>
                </a:solidFill>
              </a:defRPr>
            </a:pPr>
            <a:r>
              <a:t>1. Immediate High-Severity RTL Patching:</a:t>
            </a:r>
          </a:p>
          <a:p>
            <a:pPr>
              <a:spcAft>
                <a:spcPts val="1600"/>
              </a:spcAft>
              <a:defRPr sz="1500">
                <a:solidFill>
                  <a:srgbClr val="E2E8F0"/>
                </a:solidFill>
              </a:defRPr>
            </a:pPr>
            <a:r>
              <a:t>Prioritize RTL patches for KV-002 (unconditional key zeroize), ECC-001 (verify output leak), RVCORE-001 (PMP bypass), and INTEG-001 (OTP gate hardcode).</a:t>
            </a:r>
          </a:p>
          <a:p>
            <a:pPr>
              <a:defRPr sz="1600" b="1">
                <a:solidFill>
                  <a:srgbClr val="38BDF8"/>
                </a:solidFill>
              </a:defRPr>
            </a:pPr>
            <a:r>
              <a:t>2. Standardize Hardware Reset Domains:</a:t>
            </a:r>
          </a:p>
          <a:p>
            <a:pPr>
              <a:spcAft>
                <a:spcPts val="1600"/>
              </a:spcAft>
              <a:defRPr sz="1500">
                <a:solidFill>
                  <a:srgbClr val="E2E8F0"/>
                </a:solidFill>
              </a:defRPr>
            </a:pPr>
            <a:r>
              <a:t>Align lock control registers across Key Vault, PCR Vault, and Data Vault to the cold reset domain (`hard_reset_b`) to eliminate post-warm-reset secret exposure.</a:t>
            </a:r>
          </a:p>
          <a:p>
            <a:pPr>
              <a:defRPr sz="1600" b="1">
                <a:solidFill>
                  <a:srgbClr val="38BDF8"/>
                </a:solidFill>
              </a:defRPr>
            </a:pPr>
            <a:r>
              <a:t>3. Automated Regression via Dynamic Exploits:</a:t>
            </a:r>
          </a:p>
          <a:p>
            <a:pPr>
              <a:spcAft>
                <a:spcPts val="1600"/>
              </a:spcAft>
              <a:defRPr sz="1500">
                <a:solidFill>
                  <a:srgbClr val="E2E8F0"/>
                </a:solidFill>
              </a:defRPr>
            </a:pPr>
            <a:r>
              <a:t>Utilize the 34 developed standalone PoC exploit testbenches (`work/exploits/`) to verify that proposed RTL patches resolve vulnerabilities without introducing regressions.</a:t>
            </a:r>
          </a:p>
          <a:p>
            <a:pPr>
              <a:defRPr sz="1600" b="1">
                <a:solidFill>
                  <a:srgbClr val="38BDF8"/>
                </a:solidFill>
              </a:defRPr>
            </a:pPr>
            <a:r>
              <a:t>4. Unified Security Sign-Off:</a:t>
            </a:r>
          </a:p>
          <a:p>
            <a:pPr>
              <a:spcAft>
                <a:spcPts val="1600"/>
              </a:spcAft>
              <a:defRPr sz="1500">
                <a:solidFill>
                  <a:srgbClr val="E2E8F0"/>
                </a:solidFill>
              </a:defRPr>
            </a:pPr>
            <a:r>
              <a:t>Combine Phase 1 Dynamic Simulation PoC exploits and Phase 2 Python SAST &amp; AI Validation proofs into a single consolidated audit sign-off package.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